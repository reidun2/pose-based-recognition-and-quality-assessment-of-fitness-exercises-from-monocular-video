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5199975"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 d="100"/>
          <a:sy n="20" d="100"/>
        </p:scale>
        <p:origin x="2716"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9998" y="5891626"/>
            <a:ext cx="21419979" cy="12533242"/>
          </a:xfrm>
        </p:spPr>
        <p:txBody>
          <a:bodyPr anchor="b"/>
          <a:lstStyle>
            <a:lvl1pPr algn="ctr">
              <a:defRPr sz="16535"/>
            </a:lvl1pPr>
          </a:lstStyle>
          <a:p>
            <a:r>
              <a:rPr lang="en-US"/>
              <a:t>Click to edit Master title style</a:t>
            </a:r>
            <a:endParaRPr lang="en-US" dirty="0"/>
          </a:p>
        </p:txBody>
      </p:sp>
      <p:sp>
        <p:nvSpPr>
          <p:cNvPr id="3" name="Subtitle 2"/>
          <p:cNvSpPr>
            <a:spLocks noGrp="1"/>
          </p:cNvSpPr>
          <p:nvPr>
            <p:ph type="subTitle" idx="1"/>
          </p:nvPr>
        </p:nvSpPr>
        <p:spPr>
          <a:xfrm>
            <a:off x="3149997" y="18908198"/>
            <a:ext cx="18899981" cy="8691601"/>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407080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3712672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19375" y="8974945"/>
            <a:ext cx="21734978" cy="14974888"/>
          </a:xfrm>
        </p:spPr>
        <p:txBody>
          <a:bodyPr anchor="b"/>
          <a:lstStyle>
            <a:lvl1pPr>
              <a:defRPr sz="16535"/>
            </a:lvl1pPr>
          </a:lstStyle>
          <a:p>
            <a:r>
              <a:rPr lang="en-US"/>
              <a:t>Click to edit Master title style</a:t>
            </a:r>
            <a:endParaRPr lang="en-US" dirty="0"/>
          </a:p>
        </p:txBody>
      </p:sp>
      <p:sp>
        <p:nvSpPr>
          <p:cNvPr id="3" name="Text Placeholder 2"/>
          <p:cNvSpPr>
            <a:spLocks noGrp="1"/>
          </p:cNvSpPr>
          <p:nvPr>
            <p:ph type="body" idx="1"/>
          </p:nvPr>
        </p:nvSpPr>
        <p:spPr>
          <a:xfrm>
            <a:off x="1719375" y="24091502"/>
            <a:ext cx="21734978" cy="7874940"/>
          </a:xfrm>
        </p:spPr>
        <p:txBody>
          <a:bodyPr/>
          <a:lstStyle>
            <a:lvl1pPr marL="0" indent="0">
              <a:buNone/>
              <a:defRPr sz="6614">
                <a:solidFill>
                  <a:schemeClr val="tx1"/>
                </a:solidFill>
              </a:defRPr>
            </a:lvl1pPr>
            <a:lvl2pPr marL="1259997" indent="0">
              <a:buNone/>
              <a:defRPr sz="5512">
                <a:solidFill>
                  <a:schemeClr val="tx1">
                    <a:tint val="75000"/>
                  </a:schemeClr>
                </a:solidFill>
              </a:defRPr>
            </a:lvl2pPr>
            <a:lvl3pPr marL="2519995" indent="0">
              <a:buNone/>
              <a:defRPr sz="4961">
                <a:solidFill>
                  <a:schemeClr val="tx1">
                    <a:tint val="75000"/>
                  </a:schemeClr>
                </a:solidFill>
              </a:defRPr>
            </a:lvl3pPr>
            <a:lvl4pPr marL="3779992" indent="0">
              <a:buNone/>
              <a:defRPr sz="4409">
                <a:solidFill>
                  <a:schemeClr val="tx1">
                    <a:tint val="75000"/>
                  </a:schemeClr>
                </a:solidFill>
              </a:defRPr>
            </a:lvl4pPr>
            <a:lvl5pPr marL="5039990" indent="0">
              <a:buNone/>
              <a:defRPr sz="4409">
                <a:solidFill>
                  <a:schemeClr val="tx1">
                    <a:tint val="75000"/>
                  </a:schemeClr>
                </a:solidFill>
              </a:defRPr>
            </a:lvl5pPr>
            <a:lvl6pPr marL="6299987" indent="0">
              <a:buNone/>
              <a:defRPr sz="4409">
                <a:solidFill>
                  <a:schemeClr val="tx1">
                    <a:tint val="75000"/>
                  </a:schemeClr>
                </a:solidFill>
              </a:defRPr>
            </a:lvl6pPr>
            <a:lvl7pPr marL="7559985" indent="0">
              <a:buNone/>
              <a:defRPr sz="4409">
                <a:solidFill>
                  <a:schemeClr val="tx1">
                    <a:tint val="75000"/>
                  </a:schemeClr>
                </a:solidFill>
              </a:defRPr>
            </a:lvl7pPr>
            <a:lvl8pPr marL="8819982" indent="0">
              <a:buNone/>
              <a:defRPr sz="4409">
                <a:solidFill>
                  <a:schemeClr val="tx1">
                    <a:tint val="75000"/>
                  </a:schemeClr>
                </a:solidFill>
              </a:defRPr>
            </a:lvl8pPr>
            <a:lvl9pPr marL="10079980" indent="0">
              <a:buNone/>
              <a:defRPr sz="440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F86DA2-6F35-4111-ACB3-E2300C0C7C15}"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28640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32498" y="9583264"/>
            <a:ext cx="10709989" cy="228415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757488" y="9583264"/>
            <a:ext cx="10709989" cy="228415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F86DA2-6F35-4111-ACB3-E2300C0C7C15}" type="datetimeFigureOut">
              <a:rPr lang="en-GB" smtClean="0"/>
              <a:t>19/12/2025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1963884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5781" y="1916661"/>
            <a:ext cx="21734978"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5783" y="8824938"/>
            <a:ext cx="10660769"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Edit Master text styles</a:t>
            </a:r>
          </a:p>
        </p:txBody>
      </p:sp>
      <p:sp>
        <p:nvSpPr>
          <p:cNvPr id="4" name="Content Placeholder 3"/>
          <p:cNvSpPr>
            <a:spLocks noGrp="1"/>
          </p:cNvSpPr>
          <p:nvPr>
            <p:ph sz="half" idx="2"/>
          </p:nvPr>
        </p:nvSpPr>
        <p:spPr>
          <a:xfrm>
            <a:off x="1735783" y="13149904"/>
            <a:ext cx="10660769" cy="193415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757489" y="8824938"/>
            <a:ext cx="10713272"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Edit Master text styles</a:t>
            </a:r>
          </a:p>
        </p:txBody>
      </p:sp>
      <p:sp>
        <p:nvSpPr>
          <p:cNvPr id="6" name="Content Placeholder 5"/>
          <p:cNvSpPr>
            <a:spLocks noGrp="1"/>
          </p:cNvSpPr>
          <p:nvPr>
            <p:ph sz="quarter" idx="4"/>
          </p:nvPr>
        </p:nvSpPr>
        <p:spPr>
          <a:xfrm>
            <a:off x="12757489" y="13149904"/>
            <a:ext cx="10713272" cy="193415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F86DA2-6F35-4111-ACB3-E2300C0C7C15}" type="datetimeFigureOut">
              <a:rPr lang="en-GB" smtClean="0"/>
              <a:t>19/12/2025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3559586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F86DA2-6F35-4111-ACB3-E2300C0C7C15}" type="datetimeFigureOut">
              <a:rPr lang="en-GB" smtClean="0"/>
              <a:t>19/12/2025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157251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F86DA2-6F35-4111-ACB3-E2300C0C7C15}" type="datetimeFigureOut">
              <a:rPr lang="en-GB" smtClean="0"/>
              <a:t>19/12/2025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2340265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n-US"/>
              <a:t>Click to edit Master title style</a:t>
            </a:r>
            <a:endParaRPr lang="en-US" dirty="0"/>
          </a:p>
        </p:txBody>
      </p:sp>
      <p:sp>
        <p:nvSpPr>
          <p:cNvPr id="3" name="Content Placeholder 2"/>
          <p:cNvSpPr>
            <a:spLocks noGrp="1"/>
          </p:cNvSpPr>
          <p:nvPr>
            <p:ph idx="1"/>
          </p:nvPr>
        </p:nvSpPr>
        <p:spPr>
          <a:xfrm>
            <a:off x="10713272" y="5183304"/>
            <a:ext cx="12757487" cy="25583147"/>
          </a:xfrm>
        </p:spPr>
        <p:txBody>
          <a:bodyPr/>
          <a:lstStyle>
            <a:lvl1pPr>
              <a:defRPr sz="8819"/>
            </a:lvl1pPr>
            <a:lvl2pPr>
              <a:defRPr sz="7717"/>
            </a:lvl2pPr>
            <a:lvl3pPr>
              <a:defRPr sz="6614"/>
            </a:lvl3pPr>
            <a:lvl4pPr>
              <a:defRPr sz="5512"/>
            </a:lvl4pPr>
            <a:lvl5pPr>
              <a:defRPr sz="5512"/>
            </a:lvl5pPr>
            <a:lvl6pPr>
              <a:defRPr sz="5512"/>
            </a:lvl6pPr>
            <a:lvl7pPr>
              <a:defRPr sz="5512"/>
            </a:lvl7pPr>
            <a:lvl8pPr>
              <a:defRPr sz="5512"/>
            </a:lvl8pPr>
            <a:lvl9pPr>
              <a:defRPr sz="5512"/>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Edit Master text styles</a:t>
            </a:r>
          </a:p>
        </p:txBody>
      </p:sp>
      <p:sp>
        <p:nvSpPr>
          <p:cNvPr id="5" name="Date Placeholder 4"/>
          <p:cNvSpPr>
            <a:spLocks noGrp="1"/>
          </p:cNvSpPr>
          <p:nvPr>
            <p:ph type="dt" sz="half" idx="10"/>
          </p:nvPr>
        </p:nvSpPr>
        <p:spPr/>
        <p:txBody>
          <a:bodyPr/>
          <a:lstStyle/>
          <a:p>
            <a:fld id="{96F86DA2-6F35-4111-ACB3-E2300C0C7C15}" type="datetimeFigureOut">
              <a:rPr lang="en-GB" smtClean="0"/>
              <a:t>19/12/2025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1841435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n-US"/>
              <a:t>Click to edit Master title style</a:t>
            </a:r>
            <a:endParaRPr lang="en-US" dirty="0"/>
          </a:p>
        </p:txBody>
      </p:sp>
      <p:sp>
        <p:nvSpPr>
          <p:cNvPr id="3" name="Picture Placeholder 2"/>
          <p:cNvSpPr>
            <a:spLocks noGrp="1" noChangeAspect="1"/>
          </p:cNvSpPr>
          <p:nvPr>
            <p:ph type="pic" idx="1"/>
          </p:nvPr>
        </p:nvSpPr>
        <p:spPr>
          <a:xfrm>
            <a:off x="10713272" y="5183304"/>
            <a:ext cx="12757487" cy="25583147"/>
          </a:xfrm>
        </p:spPr>
        <p:txBody>
          <a:bodyPr anchor="t"/>
          <a:lstStyle>
            <a:lvl1pPr marL="0" indent="0">
              <a:buNone/>
              <a:defRPr sz="8819"/>
            </a:lvl1pPr>
            <a:lvl2pPr marL="1259997" indent="0">
              <a:buNone/>
              <a:defRPr sz="7717"/>
            </a:lvl2pPr>
            <a:lvl3pPr marL="2519995" indent="0">
              <a:buNone/>
              <a:defRPr sz="6614"/>
            </a:lvl3pPr>
            <a:lvl4pPr marL="3779992" indent="0">
              <a:buNone/>
              <a:defRPr sz="5512"/>
            </a:lvl4pPr>
            <a:lvl5pPr marL="5039990" indent="0">
              <a:buNone/>
              <a:defRPr sz="5512"/>
            </a:lvl5pPr>
            <a:lvl6pPr marL="6299987" indent="0">
              <a:buNone/>
              <a:defRPr sz="5512"/>
            </a:lvl6pPr>
            <a:lvl7pPr marL="7559985" indent="0">
              <a:buNone/>
              <a:defRPr sz="5512"/>
            </a:lvl7pPr>
            <a:lvl8pPr marL="8819982" indent="0">
              <a:buNone/>
              <a:defRPr sz="5512"/>
            </a:lvl8pPr>
            <a:lvl9pPr marL="10079980" indent="0">
              <a:buNone/>
              <a:defRPr sz="5512"/>
            </a:lvl9pPr>
          </a:lstStyle>
          <a:p>
            <a:r>
              <a:rPr lang="en-US"/>
              <a:t>Click icon to add picture</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Edit Master text styles</a:t>
            </a:r>
          </a:p>
        </p:txBody>
      </p:sp>
      <p:sp>
        <p:nvSpPr>
          <p:cNvPr id="5" name="Date Placeholder 4"/>
          <p:cNvSpPr>
            <a:spLocks noGrp="1"/>
          </p:cNvSpPr>
          <p:nvPr>
            <p:ph type="dt" sz="half" idx="10"/>
          </p:nvPr>
        </p:nvSpPr>
        <p:spPr/>
        <p:txBody>
          <a:bodyPr/>
          <a:lstStyle/>
          <a:p>
            <a:fld id="{96F86DA2-6F35-4111-ACB3-E2300C0C7C15}" type="datetimeFigureOut">
              <a:rPr lang="en-GB" smtClean="0"/>
              <a:t>19/12/2025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2154069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840168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033733" y="1916653"/>
            <a:ext cx="543374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32500" y="1916653"/>
            <a:ext cx="15986234" cy="3050811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950892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32499" y="1916661"/>
            <a:ext cx="21734978"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32498" y="33366432"/>
            <a:ext cx="5669994" cy="1916653"/>
          </a:xfrm>
          <a:prstGeom prst="rect">
            <a:avLst/>
          </a:prstGeom>
        </p:spPr>
        <p:txBody>
          <a:bodyPr vert="horz" lIns="91440" tIns="45720" rIns="91440" bIns="45720" rtlCol="0" anchor="ctr"/>
          <a:lstStyle>
            <a:lvl1pPr algn="l">
              <a:defRPr sz="3307">
                <a:solidFill>
                  <a:schemeClr val="tx1">
                    <a:tint val="75000"/>
                  </a:schemeClr>
                </a:solidFill>
              </a:defRPr>
            </a:lvl1pPr>
          </a:lstStyle>
          <a:p>
            <a:fld id="{96F86DA2-6F35-4111-ACB3-E2300C0C7C15}" type="datetimeFigureOut">
              <a:rPr lang="en-GB" smtClean="0"/>
              <a:t>19/12/2025</a:t>
            </a:fld>
            <a:endParaRPr lang="en-GB"/>
          </a:p>
        </p:txBody>
      </p:sp>
      <p:sp>
        <p:nvSpPr>
          <p:cNvPr id="5" name="Footer Placeholder 4"/>
          <p:cNvSpPr>
            <a:spLocks noGrp="1"/>
          </p:cNvSpPr>
          <p:nvPr>
            <p:ph type="ftr" sz="quarter" idx="3"/>
          </p:nvPr>
        </p:nvSpPr>
        <p:spPr>
          <a:xfrm>
            <a:off x="8347492" y="33366432"/>
            <a:ext cx="8504992" cy="1916653"/>
          </a:xfrm>
          <a:prstGeom prst="rect">
            <a:avLst/>
          </a:prstGeom>
        </p:spPr>
        <p:txBody>
          <a:bodyPr vert="horz" lIns="91440" tIns="45720" rIns="91440" bIns="45720" rtlCol="0" anchor="ctr"/>
          <a:lstStyle>
            <a:lvl1pPr algn="ctr">
              <a:defRPr sz="3307">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7797483" y="33366432"/>
            <a:ext cx="5669994" cy="1916653"/>
          </a:xfrm>
          <a:prstGeom prst="rect">
            <a:avLst/>
          </a:prstGeom>
        </p:spPr>
        <p:txBody>
          <a:bodyPr vert="horz" lIns="91440" tIns="45720" rIns="91440" bIns="45720" rtlCol="0" anchor="ctr"/>
          <a:lstStyle>
            <a:lvl1pPr algn="r">
              <a:defRPr sz="3307">
                <a:solidFill>
                  <a:schemeClr val="tx1">
                    <a:tint val="75000"/>
                  </a:schemeClr>
                </a:solidFill>
              </a:defRPr>
            </a:lvl1pPr>
          </a:lstStyle>
          <a:p>
            <a:fld id="{18C2CB9A-9BA4-4F40-AC33-1A1DB0F02AD0}" type="slidenum">
              <a:rPr lang="en-GB" smtClean="0"/>
              <a:t>‹#›</a:t>
            </a:fld>
            <a:endParaRPr lang="en-GB"/>
          </a:p>
        </p:txBody>
      </p:sp>
    </p:spTree>
    <p:extLst>
      <p:ext uri="{BB962C8B-B14F-4D97-AF65-F5344CB8AC3E}">
        <p14:creationId xmlns:p14="http://schemas.microsoft.com/office/powerpoint/2010/main" val="25728026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519995" rtl="0" eaLnBrk="1" latinLnBrk="0" hangingPunct="1">
        <a:lnSpc>
          <a:spcPct val="90000"/>
        </a:lnSpc>
        <a:spcBef>
          <a:spcPct val="0"/>
        </a:spcBef>
        <a:buNone/>
        <a:defRPr sz="12126" kern="1200">
          <a:solidFill>
            <a:schemeClr val="tx1"/>
          </a:solidFill>
          <a:latin typeface="+mj-lt"/>
          <a:ea typeface="+mj-ea"/>
          <a:cs typeface="+mj-cs"/>
        </a:defRPr>
      </a:lvl1pPr>
    </p:titleStyle>
    <p:body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E55D3C5-B04D-41A5-9B17-C157FCAEF508}"/>
              </a:ext>
            </a:extLst>
          </p:cNvPr>
          <p:cNvGraphicFramePr>
            <a:graphicFrameLocks noGrp="1"/>
          </p:cNvGraphicFramePr>
          <p:nvPr>
            <p:extLst>
              <p:ext uri="{D42A27DB-BD31-4B8C-83A1-F6EECF244321}">
                <p14:modId xmlns:p14="http://schemas.microsoft.com/office/powerpoint/2010/main" val="975851198"/>
              </p:ext>
            </p:extLst>
          </p:nvPr>
        </p:nvGraphicFramePr>
        <p:xfrm>
          <a:off x="818147" y="665380"/>
          <a:ext cx="23509706" cy="4998720"/>
        </p:xfrm>
        <a:graphic>
          <a:graphicData uri="http://schemas.openxmlformats.org/drawingml/2006/table">
            <a:tbl>
              <a:tblPr firstRow="1" bandRow="1">
                <a:tableStyleId>{5C22544A-7EE6-4342-B048-85BDC9FD1C3A}</a:tableStyleId>
              </a:tblPr>
              <a:tblGrid>
                <a:gridCol w="5558590">
                  <a:extLst>
                    <a:ext uri="{9D8B030D-6E8A-4147-A177-3AD203B41FA5}">
                      <a16:colId xmlns:a16="http://schemas.microsoft.com/office/drawing/2014/main" val="4092810084"/>
                    </a:ext>
                  </a:extLst>
                </a:gridCol>
                <a:gridCol w="13210674">
                  <a:extLst>
                    <a:ext uri="{9D8B030D-6E8A-4147-A177-3AD203B41FA5}">
                      <a16:colId xmlns:a16="http://schemas.microsoft.com/office/drawing/2014/main" val="3944608498"/>
                    </a:ext>
                  </a:extLst>
                </a:gridCol>
                <a:gridCol w="4740442">
                  <a:extLst>
                    <a:ext uri="{9D8B030D-6E8A-4147-A177-3AD203B41FA5}">
                      <a16:colId xmlns:a16="http://schemas.microsoft.com/office/drawing/2014/main" val="3295376166"/>
                    </a:ext>
                  </a:extLst>
                </a:gridCol>
              </a:tblGrid>
              <a:tr h="1781860">
                <a:tc>
                  <a:txBody>
                    <a:bodyPr/>
                    <a:lstStyle/>
                    <a:p>
                      <a:pPr marL="0" marR="0" lvl="0" indent="0" algn="ctr" defTabSz="2519995" rtl="0" eaLnBrk="1" fontAlgn="auto" latinLnBrk="0" hangingPunct="1">
                        <a:lnSpc>
                          <a:spcPct val="100000"/>
                        </a:lnSpc>
                        <a:spcBef>
                          <a:spcPts val="0"/>
                        </a:spcBef>
                        <a:spcAft>
                          <a:spcPts val="0"/>
                        </a:spcAft>
                        <a:buClrTx/>
                        <a:buSzTx/>
                        <a:buFontTx/>
                        <a:buNone/>
                        <a:tabLst/>
                        <a:defRPr/>
                      </a:pPr>
                      <a:r>
                        <a:rPr lang="en-US" sz="4000" dirty="0"/>
                        <a:t>Deep Learning for Computer Science</a:t>
                      </a:r>
                      <a:endParaRPr lang="en-GB" sz="4000" dirty="0"/>
                    </a:p>
                  </a:txBody>
                  <a:tcPr anchor="ctr">
                    <a:solidFill>
                      <a:srgbClr val="009999"/>
                    </a:solidFill>
                  </a:tcPr>
                </a:tc>
                <a:tc rowSpan="2">
                  <a:txBody>
                    <a:bodyPr/>
                    <a:lstStyle/>
                    <a:p>
                      <a:pPr algn="ctr"/>
                      <a:r>
                        <a:rPr lang="en-US" sz="7400" dirty="0"/>
                        <a:t>Pose-Based Recognition and Quality Assessment of Fitness Exercises from Monocular </a:t>
                      </a:r>
                      <a:r>
                        <a:rPr lang="en-US" sz="8000" dirty="0"/>
                        <a:t>Video</a:t>
                      </a:r>
                    </a:p>
                    <a:p>
                      <a:pPr algn="ctr"/>
                      <a:r>
                        <a:rPr lang="en-US" sz="5400" dirty="0"/>
                        <a:t>Pavel Fadeev</a:t>
                      </a:r>
                    </a:p>
                    <a:p>
                      <a:pPr algn="ctr"/>
                      <a:r>
                        <a:rPr lang="en-US" sz="4000" dirty="0"/>
                        <a:t>3rd Year, Semester A</a:t>
                      </a:r>
                      <a:endParaRPr lang="ru-RU" sz="4000" dirty="0"/>
                    </a:p>
                  </a:txBody>
                  <a:tcPr anchor="ctr">
                    <a:solidFill>
                      <a:srgbClr val="009999"/>
                    </a:solidFill>
                  </a:tcPr>
                </a:tc>
                <a:tc rowSpan="2">
                  <a:txBody>
                    <a:bodyPr/>
                    <a:lstStyle/>
                    <a:p>
                      <a:endParaRPr lang="en-GB" dirty="0"/>
                    </a:p>
                  </a:txBody>
                  <a:tcPr>
                    <a:solidFill>
                      <a:srgbClr val="009999"/>
                    </a:solidFill>
                  </a:tcPr>
                </a:tc>
                <a:extLst>
                  <a:ext uri="{0D108BD9-81ED-4DB2-BD59-A6C34878D82A}">
                    <a16:rowId xmlns:a16="http://schemas.microsoft.com/office/drawing/2014/main" val="1622067825"/>
                  </a:ext>
                </a:extLst>
              </a:tr>
              <a:tr h="1781860">
                <a:tc>
                  <a:txBody>
                    <a:bodyPr/>
                    <a:lstStyle/>
                    <a:p>
                      <a:pPr marL="0" marR="0" lvl="0" indent="0" algn="ctr" defTabSz="2519995" rtl="0" eaLnBrk="1" fontAlgn="auto" latinLnBrk="0" hangingPunct="1">
                        <a:lnSpc>
                          <a:spcPct val="100000"/>
                        </a:lnSpc>
                        <a:spcBef>
                          <a:spcPts val="0"/>
                        </a:spcBef>
                        <a:spcAft>
                          <a:spcPts val="0"/>
                        </a:spcAft>
                        <a:buClrTx/>
                        <a:buSzTx/>
                        <a:buFontTx/>
                        <a:buNone/>
                        <a:tabLst/>
                        <a:defRPr/>
                      </a:pPr>
                      <a:r>
                        <a:rPr lang="en-US" sz="5400" b="1" dirty="0">
                          <a:solidFill>
                            <a:schemeClr val="bg1"/>
                          </a:solidFill>
                        </a:rPr>
                        <a:t>Idan Tubis</a:t>
                      </a:r>
                      <a:endParaRPr lang="en-GB" sz="5400" b="1" dirty="0">
                        <a:solidFill>
                          <a:schemeClr val="bg1"/>
                        </a:solidFill>
                      </a:endParaRPr>
                    </a:p>
                  </a:txBody>
                  <a:tcPr anchor="ctr">
                    <a:solidFill>
                      <a:srgbClr val="009999"/>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987700668"/>
                  </a:ext>
                </a:extLst>
              </a:tr>
            </a:tbl>
          </a:graphicData>
        </a:graphic>
      </p:graphicFrame>
      <p:pic>
        <p:nvPicPr>
          <p:cNvPr id="1026" name="Picture 1" descr="Related image">
            <a:extLst>
              <a:ext uri="{FF2B5EF4-FFF2-40B4-BE49-F238E27FC236}">
                <a16:creationId xmlns:a16="http://schemas.microsoft.com/office/drawing/2014/main" id="{5A5333D2-7388-4619-A766-D87FC1725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0513" y="1040568"/>
            <a:ext cx="4252557" cy="281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4E2E9B59-38DC-46AD-A4E5-9A55979323A6}"/>
              </a:ext>
            </a:extLst>
          </p:cNvPr>
          <p:cNvSpPr/>
          <p:nvPr/>
        </p:nvSpPr>
        <p:spPr>
          <a:xfrm>
            <a:off x="845134" y="6110592"/>
            <a:ext cx="23509706" cy="29406850"/>
          </a:xfrm>
          <a:prstGeom prst="roundRect">
            <a:avLst/>
          </a:prstGeom>
          <a:solidFill>
            <a:srgbClr val="009999"/>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7113CD56-4D92-32D8-68CF-9F7954DD1952}"/>
              </a:ext>
            </a:extLst>
          </p:cNvPr>
          <p:cNvSpPr txBox="1"/>
          <p:nvPr/>
        </p:nvSpPr>
        <p:spPr>
          <a:xfrm>
            <a:off x="2332642" y="30302108"/>
            <a:ext cx="20534690" cy="2308324"/>
          </a:xfrm>
          <a:prstGeom prst="rect">
            <a:avLst/>
          </a:prstGeom>
          <a:solidFill>
            <a:schemeClr val="bg1">
              <a:lumMod val="85000"/>
            </a:schemeClr>
          </a:solidFill>
        </p:spPr>
        <p:txBody>
          <a:bodyPr wrap="square">
            <a:spAutoFit/>
          </a:bodyPr>
          <a:lstStyle/>
          <a:p>
            <a:pPr>
              <a:buNone/>
            </a:pPr>
            <a:r>
              <a:rPr lang="en-US" sz="3600" dirty="0"/>
              <a:t>Future work may include supporting a wider range of exercises, improving robustness to camera angles, and extending the system to real-time feedback. Additional improvements could be achieved by incorporating 3D pose estimation and larger datasets.</a:t>
            </a:r>
          </a:p>
          <a:p>
            <a:pPr>
              <a:buNone/>
            </a:pPr>
            <a:r>
              <a:rPr lang="en-US" sz="3600" dirty="0"/>
              <a:t>A QR code linking to a demonstration video and the project source code is provided below.</a:t>
            </a:r>
          </a:p>
        </p:txBody>
      </p:sp>
      <p:sp>
        <p:nvSpPr>
          <p:cNvPr id="6" name="TextBox 5">
            <a:extLst>
              <a:ext uri="{FF2B5EF4-FFF2-40B4-BE49-F238E27FC236}">
                <a16:creationId xmlns:a16="http://schemas.microsoft.com/office/drawing/2014/main" id="{3C5C604F-6C5E-D2B4-08BC-32CB225A17C1}"/>
              </a:ext>
            </a:extLst>
          </p:cNvPr>
          <p:cNvSpPr txBox="1"/>
          <p:nvPr/>
        </p:nvSpPr>
        <p:spPr>
          <a:xfrm>
            <a:off x="2332642" y="8101754"/>
            <a:ext cx="12598400" cy="923330"/>
          </a:xfrm>
          <a:prstGeom prst="rect">
            <a:avLst/>
          </a:prstGeom>
          <a:noFill/>
        </p:spPr>
        <p:txBody>
          <a:bodyPr wrap="square">
            <a:spAutoFit/>
          </a:bodyPr>
          <a:lstStyle/>
          <a:p>
            <a:pPr>
              <a:buNone/>
            </a:pPr>
            <a:r>
              <a:rPr lang="en-US" sz="5400" b="1" dirty="0"/>
              <a:t>Introduction</a:t>
            </a:r>
          </a:p>
        </p:txBody>
      </p:sp>
      <p:sp>
        <p:nvSpPr>
          <p:cNvPr id="7" name="TextBox 6">
            <a:extLst>
              <a:ext uri="{FF2B5EF4-FFF2-40B4-BE49-F238E27FC236}">
                <a16:creationId xmlns:a16="http://schemas.microsoft.com/office/drawing/2014/main" id="{92960DAF-5E1E-2B21-8F5A-BA97F60F8533}"/>
              </a:ext>
            </a:extLst>
          </p:cNvPr>
          <p:cNvSpPr txBox="1"/>
          <p:nvPr/>
        </p:nvSpPr>
        <p:spPr>
          <a:xfrm>
            <a:off x="2332642" y="9262148"/>
            <a:ext cx="20534690" cy="3416320"/>
          </a:xfrm>
          <a:prstGeom prst="rect">
            <a:avLst/>
          </a:prstGeom>
          <a:solidFill>
            <a:schemeClr val="bg1">
              <a:lumMod val="85000"/>
            </a:schemeClr>
          </a:solidFill>
        </p:spPr>
        <p:txBody>
          <a:bodyPr wrap="square">
            <a:spAutoFit/>
          </a:bodyPr>
          <a:lstStyle/>
          <a:p>
            <a:pPr>
              <a:buNone/>
            </a:pPr>
            <a:r>
              <a:rPr lang="en-US" sz="3600" dirty="0"/>
              <a:t>Incorrect execution of fitness exercises can reduce training effectiveness and significantly increase the risk of injury. Most existing solutions rely on wearable sensors or require manual supervision by a trainer.</a:t>
            </a:r>
          </a:p>
          <a:p>
            <a:pPr>
              <a:buNone/>
            </a:pPr>
            <a:r>
              <a:rPr lang="en-US" sz="3600" dirty="0"/>
              <a:t>This project presents a vision-based deep learning system that recognizes fitness exercises and evaluates their execution quality using a single monocular video camera. The system aims to provide an accessible, sensor-free solution for automatic exercise analysis.</a:t>
            </a:r>
          </a:p>
        </p:txBody>
      </p:sp>
      <p:sp>
        <p:nvSpPr>
          <p:cNvPr id="8" name="TextBox 7">
            <a:extLst>
              <a:ext uri="{FF2B5EF4-FFF2-40B4-BE49-F238E27FC236}">
                <a16:creationId xmlns:a16="http://schemas.microsoft.com/office/drawing/2014/main" id="{AFC70594-1F06-4EFB-AB0A-A2DDD7AE22C7}"/>
              </a:ext>
            </a:extLst>
          </p:cNvPr>
          <p:cNvSpPr txBox="1"/>
          <p:nvPr/>
        </p:nvSpPr>
        <p:spPr>
          <a:xfrm>
            <a:off x="2332642" y="13367451"/>
            <a:ext cx="12598400" cy="923330"/>
          </a:xfrm>
          <a:prstGeom prst="rect">
            <a:avLst/>
          </a:prstGeom>
          <a:noFill/>
        </p:spPr>
        <p:txBody>
          <a:bodyPr wrap="square">
            <a:spAutoFit/>
          </a:bodyPr>
          <a:lstStyle/>
          <a:p>
            <a:r>
              <a:rPr lang="en-US" sz="5400" b="1" dirty="0"/>
              <a:t>Methodology</a:t>
            </a:r>
            <a:endParaRPr lang="ru-RU" sz="5400" dirty="0"/>
          </a:p>
        </p:txBody>
      </p:sp>
      <p:sp>
        <p:nvSpPr>
          <p:cNvPr id="9" name="TextBox 8">
            <a:extLst>
              <a:ext uri="{FF2B5EF4-FFF2-40B4-BE49-F238E27FC236}">
                <a16:creationId xmlns:a16="http://schemas.microsoft.com/office/drawing/2014/main" id="{C4E00077-8643-E5F9-12DA-6128341CA3FE}"/>
              </a:ext>
            </a:extLst>
          </p:cNvPr>
          <p:cNvSpPr txBox="1"/>
          <p:nvPr/>
        </p:nvSpPr>
        <p:spPr>
          <a:xfrm>
            <a:off x="2305655" y="14687990"/>
            <a:ext cx="20534690" cy="3416320"/>
          </a:xfrm>
          <a:prstGeom prst="rect">
            <a:avLst/>
          </a:prstGeom>
          <a:solidFill>
            <a:schemeClr val="bg1">
              <a:lumMod val="85000"/>
            </a:schemeClr>
          </a:solidFill>
        </p:spPr>
        <p:txBody>
          <a:bodyPr wrap="square">
            <a:spAutoFit/>
          </a:bodyPr>
          <a:lstStyle/>
          <a:p>
            <a:pPr>
              <a:buNone/>
            </a:pPr>
            <a:r>
              <a:rPr lang="en-US" sz="3600" dirty="0"/>
              <a:t>The system first applies a pose estimation model to extract 2D skeletal </a:t>
            </a:r>
            <a:r>
              <a:rPr lang="en-US" sz="3600" dirty="0" err="1"/>
              <a:t>keypoints</a:t>
            </a:r>
            <a:r>
              <a:rPr lang="en-US" sz="3600" dirty="0"/>
              <a:t> from each video frame. These </a:t>
            </a:r>
            <a:r>
              <a:rPr lang="en-US" sz="3600" dirty="0" err="1"/>
              <a:t>keypoints</a:t>
            </a:r>
            <a:r>
              <a:rPr lang="en-US" sz="3600" dirty="0"/>
              <a:t> are normalized and organized into temporal sequences representing the performed movement.</a:t>
            </a:r>
          </a:p>
          <a:p>
            <a:pPr>
              <a:buNone/>
            </a:pPr>
            <a:r>
              <a:rPr lang="en-US" sz="3600" dirty="0"/>
              <a:t>A temporal deep learning model is then used to classify the exercise based on the sequence of poses. In parallel, biomechanical features such as joint angles, symmetry, and body alignment are computed to assess execution quality.</a:t>
            </a:r>
          </a:p>
        </p:txBody>
      </p:sp>
      <p:sp>
        <p:nvSpPr>
          <p:cNvPr id="10" name="TextBox 9">
            <a:extLst>
              <a:ext uri="{FF2B5EF4-FFF2-40B4-BE49-F238E27FC236}">
                <a16:creationId xmlns:a16="http://schemas.microsoft.com/office/drawing/2014/main" id="{9D4CF3E3-76BC-D8B6-527F-D6D115727484}"/>
              </a:ext>
            </a:extLst>
          </p:cNvPr>
          <p:cNvSpPr txBox="1"/>
          <p:nvPr/>
        </p:nvSpPr>
        <p:spPr>
          <a:xfrm>
            <a:off x="2305655" y="18955240"/>
            <a:ext cx="12598400" cy="923330"/>
          </a:xfrm>
          <a:prstGeom prst="rect">
            <a:avLst/>
          </a:prstGeom>
          <a:noFill/>
        </p:spPr>
        <p:txBody>
          <a:bodyPr wrap="square">
            <a:spAutoFit/>
          </a:bodyPr>
          <a:lstStyle/>
          <a:p>
            <a:r>
              <a:rPr lang="en-US" sz="5400" b="1" dirty="0"/>
              <a:t>Exercise Quality Assessment </a:t>
            </a:r>
            <a:endParaRPr lang="ru-RU" sz="5400" dirty="0"/>
          </a:p>
        </p:txBody>
      </p:sp>
      <p:sp>
        <p:nvSpPr>
          <p:cNvPr id="11" name="TextBox 10">
            <a:extLst>
              <a:ext uri="{FF2B5EF4-FFF2-40B4-BE49-F238E27FC236}">
                <a16:creationId xmlns:a16="http://schemas.microsoft.com/office/drawing/2014/main" id="{5CB06EE1-EEF7-B9E9-D6FC-9C9A2646D231}"/>
              </a:ext>
            </a:extLst>
          </p:cNvPr>
          <p:cNvSpPr txBox="1"/>
          <p:nvPr/>
        </p:nvSpPr>
        <p:spPr>
          <a:xfrm>
            <a:off x="2332642" y="20398781"/>
            <a:ext cx="20534690" cy="2862322"/>
          </a:xfrm>
          <a:prstGeom prst="rect">
            <a:avLst/>
          </a:prstGeom>
          <a:solidFill>
            <a:schemeClr val="bg1">
              <a:lumMod val="85000"/>
            </a:schemeClr>
          </a:solidFill>
        </p:spPr>
        <p:txBody>
          <a:bodyPr wrap="square">
            <a:spAutoFit/>
          </a:bodyPr>
          <a:lstStyle/>
          <a:p>
            <a:pPr>
              <a:buNone/>
            </a:pPr>
            <a:r>
              <a:rPr lang="en-US" sz="3600" dirty="0"/>
              <a:t>To evaluate execution correctness, the extracted biomechanical features are analyzed using a rule-based framework inspired by human biomechanics. This allows the system to detect common form errors, such as improper joint angles or unstable posture.</a:t>
            </a:r>
          </a:p>
          <a:p>
            <a:pPr>
              <a:buNone/>
            </a:pPr>
            <a:r>
              <a:rPr lang="en-US" sz="3600" dirty="0"/>
              <a:t>By combining deep learning with interpretable biomechanical rules, the system provides explainable feedback rather than a black-box decision.</a:t>
            </a:r>
          </a:p>
        </p:txBody>
      </p:sp>
      <p:sp>
        <p:nvSpPr>
          <p:cNvPr id="12" name="TextBox 11">
            <a:extLst>
              <a:ext uri="{FF2B5EF4-FFF2-40B4-BE49-F238E27FC236}">
                <a16:creationId xmlns:a16="http://schemas.microsoft.com/office/drawing/2014/main" id="{9751DB84-9288-71AB-AC9A-A338692A500C}"/>
              </a:ext>
            </a:extLst>
          </p:cNvPr>
          <p:cNvSpPr txBox="1"/>
          <p:nvPr/>
        </p:nvSpPr>
        <p:spPr>
          <a:xfrm>
            <a:off x="2332642" y="23876245"/>
            <a:ext cx="12598400" cy="923330"/>
          </a:xfrm>
          <a:prstGeom prst="rect">
            <a:avLst/>
          </a:prstGeom>
          <a:noFill/>
        </p:spPr>
        <p:txBody>
          <a:bodyPr wrap="square">
            <a:spAutoFit/>
          </a:bodyPr>
          <a:lstStyle/>
          <a:p>
            <a:r>
              <a:rPr lang="en-US" sz="5400" b="1" dirty="0"/>
              <a:t>Conclusions</a:t>
            </a:r>
            <a:r>
              <a:rPr lang="en-US" b="1" dirty="0"/>
              <a:t> </a:t>
            </a:r>
            <a:endParaRPr lang="ru-RU" dirty="0"/>
          </a:p>
        </p:txBody>
      </p:sp>
      <p:sp>
        <p:nvSpPr>
          <p:cNvPr id="13" name="TextBox 12">
            <a:extLst>
              <a:ext uri="{FF2B5EF4-FFF2-40B4-BE49-F238E27FC236}">
                <a16:creationId xmlns:a16="http://schemas.microsoft.com/office/drawing/2014/main" id="{EF9F5542-C37B-CD64-6225-E4D5D9604393}"/>
              </a:ext>
            </a:extLst>
          </p:cNvPr>
          <p:cNvSpPr txBox="1"/>
          <p:nvPr/>
        </p:nvSpPr>
        <p:spPr>
          <a:xfrm>
            <a:off x="2332642" y="25250547"/>
            <a:ext cx="20534690" cy="2862322"/>
          </a:xfrm>
          <a:prstGeom prst="rect">
            <a:avLst/>
          </a:prstGeom>
          <a:solidFill>
            <a:schemeClr val="bg1">
              <a:lumMod val="85000"/>
            </a:schemeClr>
          </a:solidFill>
        </p:spPr>
        <p:txBody>
          <a:bodyPr wrap="square">
            <a:spAutoFit/>
          </a:bodyPr>
          <a:lstStyle/>
          <a:p>
            <a:pPr>
              <a:buNone/>
            </a:pPr>
            <a:r>
              <a:rPr lang="en-US" sz="3600" dirty="0"/>
              <a:t>The proposed system successfully recognizes fitness exercises from monocular video and evaluates execution quality without the need for specialized sensors. Experimental results demonstrate accurate exercise classification and reliable detection of common form errors.</a:t>
            </a:r>
          </a:p>
          <a:p>
            <a:pPr>
              <a:buNone/>
            </a:pPr>
            <a:r>
              <a:rPr lang="en-US" sz="3600" dirty="0"/>
              <a:t>The project achieves its initial goal of building an accessible and explainable deep learning–based fitness analysis system.</a:t>
            </a:r>
          </a:p>
        </p:txBody>
      </p:sp>
      <p:sp>
        <p:nvSpPr>
          <p:cNvPr id="14" name="TextBox 13">
            <a:extLst>
              <a:ext uri="{FF2B5EF4-FFF2-40B4-BE49-F238E27FC236}">
                <a16:creationId xmlns:a16="http://schemas.microsoft.com/office/drawing/2014/main" id="{688217B9-B06B-A4BC-9DA3-F4BEB290F71C}"/>
              </a:ext>
            </a:extLst>
          </p:cNvPr>
          <p:cNvSpPr txBox="1"/>
          <p:nvPr/>
        </p:nvSpPr>
        <p:spPr>
          <a:xfrm>
            <a:off x="2305655" y="28965816"/>
            <a:ext cx="12598400" cy="923330"/>
          </a:xfrm>
          <a:prstGeom prst="rect">
            <a:avLst/>
          </a:prstGeom>
          <a:noFill/>
        </p:spPr>
        <p:txBody>
          <a:bodyPr wrap="square">
            <a:spAutoFit/>
          </a:bodyPr>
          <a:lstStyle/>
          <a:p>
            <a:r>
              <a:rPr lang="en-US" sz="5400" b="1" dirty="0"/>
              <a:t>Discussions</a:t>
            </a:r>
            <a:endParaRPr lang="ru-RU" sz="5400" dirty="0"/>
          </a:p>
        </p:txBody>
      </p:sp>
      <p:pic>
        <p:nvPicPr>
          <p:cNvPr id="15" name="Рисунок 14" descr="Изображение выглядит как шаблон, Симметрия, шов, пиксель&#10;&#10;Содержимое, созданное искусственным интеллектом, может быть неверным.">
            <a:extLst>
              <a:ext uri="{FF2B5EF4-FFF2-40B4-BE49-F238E27FC236}">
                <a16:creationId xmlns:a16="http://schemas.microsoft.com/office/drawing/2014/main" id="{C8957B12-C30A-B578-1E01-CC16258680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3000" y="32859885"/>
            <a:ext cx="3600000" cy="2408104"/>
          </a:xfrm>
          <a:prstGeom prst="rect">
            <a:avLst/>
          </a:prstGeom>
        </p:spPr>
      </p:pic>
    </p:spTree>
    <p:extLst>
      <p:ext uri="{BB962C8B-B14F-4D97-AF65-F5344CB8AC3E}">
        <p14:creationId xmlns:p14="http://schemas.microsoft.com/office/powerpoint/2010/main" val="13604581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2951</TotalTime>
  <Words>346</Words>
  <Application>Microsoft Office PowerPoint</Application>
  <PresentationFormat>Произвольный</PresentationFormat>
  <Paragraphs>20</Paragraphs>
  <Slides>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Calibri Light</vt:lpstr>
      <vt:lpstr>Office Theme</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Dmitry Patashov</dc:creator>
  <cp:lastModifiedBy>Павел Фадеев</cp:lastModifiedBy>
  <cp:revision>45</cp:revision>
  <dcterms:created xsi:type="dcterms:W3CDTF">2019-01-27T10:54:29Z</dcterms:created>
  <dcterms:modified xsi:type="dcterms:W3CDTF">2025-12-18T22:33:29Z</dcterms:modified>
</cp:coreProperties>
</file>